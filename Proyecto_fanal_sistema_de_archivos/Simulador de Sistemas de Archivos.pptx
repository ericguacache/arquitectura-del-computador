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E222EE-6509-41AE-851D-016EDE63F8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081347B-B693-4012-8772-A6F2DD5831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EE9F1DD-DDEE-487F-BBF3-212D6A97BA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4C9AEEB-C81D-4033-81D0-F583B4C3EB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4F6287-1DE4-4E77-A331-6FB5287A2C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V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V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2BAA37-DEB9-4735-B3EC-154115C837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3326B2-5054-4731-B1B6-5FC752FE70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8CA27A-9B23-4F00-BA79-D674A4B46E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0E05A7-998E-474A-8D6E-1C5241CE5D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55952C-B4BE-438C-95F7-60DA5E0ED9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2740C55-9666-4A43-B61B-C138C4BCD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609480" y="5619600"/>
            <a:ext cx="10971720" cy="6274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609480" y="5619600"/>
            <a:ext cx="10971720" cy="82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09480" y="609480"/>
            <a:ext cx="1821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INFORME DE PROYECTO 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829800" y="609480"/>
            <a:ext cx="1883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C++ / MEMORY SIMULATION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09480" y="2185200"/>
            <a:ext cx="9100080" cy="11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4620"/>
              </a:lnSpc>
            </a:pPr>
            <a:r>
              <a:rPr lang="es-ES" sz="42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Simulador de Sistemas de Archivos con Bloques</a:t>
            </a:r>
            <a:endParaRPr lang="es-E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09480" y="3587040"/>
            <a:ext cx="75236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475"/>
              </a:lnSpc>
            </a:pPr>
            <a:r>
              <a:rPr lang="es-ES" sz="16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Emulación arquitectónica de FAT y Ext2 integrados a una jerarquía estricta de memoria caché (L1, L2, L3)</a:t>
            </a:r>
            <a:endParaRPr lang="es-E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09480" y="5857920"/>
            <a:ext cx="747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participante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609480" y="6058080"/>
            <a:ext cx="2340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E2E8F0"/>
                </a:solidFill>
                <a:effectLst/>
                <a:uFillTx/>
                <a:latin typeface="Inter"/>
              </a:rPr>
              <a:t>Eric Guacache (C.I: 31.788.759)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362400" y="5857920"/>
            <a:ext cx="747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participante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362400" y="6058080"/>
            <a:ext cx="2421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E2E8F0"/>
                </a:solidFill>
                <a:effectLst/>
                <a:uFillTx/>
                <a:latin typeface="Inter"/>
              </a:rPr>
              <a:t>Renny Andrade (C.I: 29.727.828)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"/>
          <p:cNvSpPr/>
          <p:nvPr/>
        </p:nvSpPr>
        <p:spPr>
          <a:xfrm>
            <a:off x="609480" y="1943280"/>
            <a:ext cx="5256720" cy="119916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2"/>
          <p:cNvSpPr/>
          <p:nvPr/>
        </p:nvSpPr>
        <p:spPr>
          <a:xfrm>
            <a:off x="609480" y="3333600"/>
            <a:ext cx="5256720" cy="119916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609480" y="4724280"/>
            <a:ext cx="5256720" cy="119916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4" descr="image.png"/>
          <p:cNvPicPr/>
          <p:nvPr/>
        </p:nvPicPr>
        <p:blipFill>
          <a:blip r:embed="rId1"/>
          <a:stretch/>
        </p:blipFill>
        <p:spPr>
          <a:xfrm>
            <a:off x="6324480" y="2124000"/>
            <a:ext cx="5256720" cy="361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5" descr="image.png"/>
          <p:cNvPicPr/>
          <p:nvPr/>
        </p:nvPicPr>
        <p:blipFill>
          <a:blip r:embed="rId2"/>
          <a:stretch/>
        </p:blipFill>
        <p:spPr>
          <a:xfrm>
            <a:off x="847800" y="220968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6" descr="image.png"/>
          <p:cNvPicPr/>
          <p:nvPr/>
        </p:nvPicPr>
        <p:blipFill>
          <a:blip r:embed="rId3"/>
          <a:stretch/>
        </p:blipFill>
        <p:spPr>
          <a:xfrm>
            <a:off x="847800" y="360036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7" descr="image.png"/>
          <p:cNvPicPr/>
          <p:nvPr/>
        </p:nvPicPr>
        <p:blipFill>
          <a:blip r:embed="rId4"/>
          <a:stretch/>
        </p:blipFill>
        <p:spPr>
          <a:xfrm>
            <a:off x="847800" y="4991040"/>
            <a:ext cx="17028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8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01. EL DESAFÍO TÉCNICO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609480" y="800280"/>
            <a:ext cx="7427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El Problema de Emulación a Bajo Nivel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847800" y="2181240"/>
            <a:ext cx="374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85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Abstracción de Almacenamiento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847800" y="2505240"/>
            <a:ext cx="4875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Modelado explícito de bloques físicos y estructuras de metadatos.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847800" y="3571920"/>
            <a:ext cx="30405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85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Penalización por Latencia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847800" y="3895560"/>
            <a:ext cx="4875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Costos de acceso descendentes desde L1 hasta memoria RAM o disco.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847800" y="4962600"/>
            <a:ext cx="3365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676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Sincronización de Metadatos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847800" y="5286240"/>
            <a:ext cx="4875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Impacto directo de las modificaciones lógicas en sectores físicos.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1"/>
          <p:cNvSpPr/>
          <p:nvPr/>
        </p:nvSpPr>
        <p:spPr>
          <a:xfrm>
            <a:off x="609480" y="2647800"/>
            <a:ext cx="3504240" cy="260892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2"/>
          <p:cNvSpPr/>
          <p:nvPr/>
        </p:nvSpPr>
        <p:spPr>
          <a:xfrm>
            <a:off x="4343400" y="2647800"/>
            <a:ext cx="3504240" cy="260892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3"/>
          <p:cNvSpPr/>
          <p:nvPr/>
        </p:nvSpPr>
        <p:spPr>
          <a:xfrm>
            <a:off x="8077320" y="2647800"/>
            <a:ext cx="3504240" cy="260892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4" descr="image.png"/>
          <p:cNvPicPr/>
          <p:nvPr/>
        </p:nvPicPr>
        <p:blipFill>
          <a:blip r:embed="rId1"/>
          <a:stretch/>
        </p:blipFill>
        <p:spPr>
          <a:xfrm>
            <a:off x="923760" y="296244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5" descr="image.png"/>
          <p:cNvPicPr/>
          <p:nvPr/>
        </p:nvPicPr>
        <p:blipFill>
          <a:blip r:embed="rId2"/>
          <a:stretch/>
        </p:blipFill>
        <p:spPr>
          <a:xfrm>
            <a:off x="4657680" y="296244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6" descr="image.png"/>
          <p:cNvPicPr/>
          <p:nvPr/>
        </p:nvPicPr>
        <p:blipFill>
          <a:blip r:embed="rId3"/>
          <a:stretch/>
        </p:blipFill>
        <p:spPr>
          <a:xfrm>
            <a:off x="8391600" y="296244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7" descr="image.png"/>
          <p:cNvPicPr/>
          <p:nvPr/>
        </p:nvPicPr>
        <p:blipFill>
          <a:blip r:embed="rId4"/>
          <a:stretch/>
        </p:blipFill>
        <p:spPr>
          <a:xfrm>
            <a:off x="1033560" y="3095640"/>
            <a:ext cx="23688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8" descr="image.png"/>
          <p:cNvPicPr/>
          <p:nvPr/>
        </p:nvPicPr>
        <p:blipFill>
          <a:blip r:embed="rId5"/>
          <a:stretch/>
        </p:blipFill>
        <p:spPr>
          <a:xfrm>
            <a:off x="4776840" y="3095640"/>
            <a:ext cx="21816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9" descr="image.png"/>
          <p:cNvPicPr/>
          <p:nvPr/>
        </p:nvPicPr>
        <p:blipFill>
          <a:blip r:embed="rId6"/>
          <a:stretch/>
        </p:blipFill>
        <p:spPr>
          <a:xfrm>
            <a:off x="8510760" y="3095640"/>
            <a:ext cx="2181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10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02. ESTRUCTURA EN DISCO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609480" y="800280"/>
            <a:ext cx="78048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FAT vs Ext2: Organización de Asignación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923760" y="3610080"/>
            <a:ext cx="22867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FAT · Cadena Lineal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923760" y="3990960"/>
            <a:ext cx="2252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Tabla centralizada en disco.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923760" y="4343400"/>
            <a:ext cx="29707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Recorrido enlazado bloque a bloque.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5"/>
          <p:cNvSpPr/>
          <p:nvPr/>
        </p:nvSpPr>
        <p:spPr>
          <a:xfrm>
            <a:off x="4657680" y="3610080"/>
            <a:ext cx="25880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Ext2 · Inodos Directos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4657680" y="3990960"/>
            <a:ext cx="2970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Desacoplamiento de nombres y metadatos.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7"/>
          <p:cNvSpPr/>
          <p:nvPr/>
        </p:nvSpPr>
        <p:spPr>
          <a:xfrm>
            <a:off x="4657680" y="4543560"/>
            <a:ext cx="2455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Punteros directos e indirectos.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8"/>
          <p:cNvSpPr/>
          <p:nvPr/>
        </p:nvSpPr>
        <p:spPr>
          <a:xfrm>
            <a:off x="8391600" y="3610080"/>
            <a:ext cx="29624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Ext2 · Grupos de Bloques</a:t>
            </a:r>
            <a:endParaRPr lang="es-E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9"/>
          <p:cNvSpPr/>
          <p:nvPr/>
        </p:nvSpPr>
        <p:spPr>
          <a:xfrm>
            <a:off x="8391600" y="3990960"/>
            <a:ext cx="2970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Superbloque y mapas de bits locales.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8391600" y="4543560"/>
            <a:ext cx="2970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Mitigación de fragmentación externa.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1"/>
          <p:cNvSpPr/>
          <p:nvPr/>
        </p:nvSpPr>
        <p:spPr>
          <a:xfrm>
            <a:off x="609480" y="3072960"/>
            <a:ext cx="6039720" cy="1720800"/>
          </a:xfrm>
          <a:prstGeom prst="roundRect">
            <a:avLst>
              <a:gd name="adj" fmla="val 663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2"/>
          <p:cNvSpPr/>
          <p:nvPr/>
        </p:nvSpPr>
        <p:spPr>
          <a:xfrm>
            <a:off x="6993000" y="2838600"/>
            <a:ext cx="4588200" cy="9990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3"/>
          <p:cNvSpPr/>
          <p:nvPr/>
        </p:nvSpPr>
        <p:spPr>
          <a:xfrm>
            <a:off x="6993000" y="4029120"/>
            <a:ext cx="4588200" cy="9990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03. IMPLEMENTACIÓN EN C++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609480" y="800280"/>
            <a:ext cx="82828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Modelado del Disco con Vectores Anidados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876240" y="3339720"/>
            <a:ext cx="3397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s-ES" sz="1130" b="0" u="none" strike="noStrike">
                <a:solidFill>
                  <a:srgbClr val="64748B"/>
                </a:solidFill>
                <a:effectLst/>
                <a:uFillTx/>
                <a:latin typeface="JetBrains Mono"/>
              </a:rPr>
              <a:t>// Representación bidimensional del disco físico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876240" y="3682440"/>
            <a:ext cx="319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s-ES" sz="1130" b="0" u="none" strike="noStrike">
                <a:solidFill>
                  <a:srgbClr val="38BDF8"/>
                </a:solidFill>
                <a:effectLst/>
                <a:uFillTx/>
                <a:latin typeface="JetBrains Mono"/>
              </a:rPr>
              <a:t>std::vector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&lt;</a:t>
            </a:r>
            <a:r>
              <a:rPr lang="es-ES" sz="1130" b="0" u="none" strike="noStrike">
                <a:solidFill>
                  <a:srgbClr val="38BDF8"/>
                </a:solidFill>
                <a:effectLst/>
                <a:uFillTx/>
                <a:latin typeface="JetBrains Mono"/>
              </a:rPr>
              <a:t>std::vector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&lt;</a:t>
            </a:r>
            <a:r>
              <a:rPr lang="es-ES" sz="1130" b="0" u="none" strike="noStrike">
                <a:solidFill>
                  <a:srgbClr val="F59E0B"/>
                </a:solidFill>
                <a:effectLst/>
                <a:uFillTx/>
                <a:latin typeface="JetBrains Mono"/>
              </a:rPr>
              <a:t>char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&gt;&gt; </a:t>
            </a:r>
            <a:r>
              <a:rPr lang="es-ES" sz="1130" b="0" u="none" strike="noStrike">
                <a:solidFill>
                  <a:srgbClr val="4ADE80"/>
                </a:solidFill>
                <a:effectLst/>
                <a:uFillTx/>
                <a:latin typeface="JetBrains Mono"/>
              </a:rPr>
              <a:t>discoFisico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;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876240" y="4101480"/>
            <a:ext cx="56012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05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// Vector externo: Conjunto de bloques de tamaño fijo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678"/>
              </a:lnSpc>
            </a:pPr>
            <a:r>
              <a:rPr lang="es-ES" sz="105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 // Vector interno: Contenido en bytes de cada bloque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7231320" y="3076560"/>
            <a:ext cx="2420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Estructura FAT en C++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7231320" y="3400560"/>
            <a:ext cx="36133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Boot sector y tabla FAT en primeros bloques.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7231320" y="4267080"/>
            <a:ext cx="252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Estructura Ext2 en C++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7231320" y="4591080"/>
            <a:ext cx="37695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Distribución conceptual de grupos de bloques.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1"/>
          <p:cNvSpPr/>
          <p:nvPr/>
        </p:nvSpPr>
        <p:spPr>
          <a:xfrm>
            <a:off x="609480" y="3238560"/>
            <a:ext cx="2420640" cy="1427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609480" y="3238560"/>
            <a:ext cx="37080" cy="1427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720" tIns="45000" rIns="187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3"/>
          <p:cNvSpPr/>
          <p:nvPr/>
        </p:nvSpPr>
        <p:spPr>
          <a:xfrm>
            <a:off x="3459960" y="3238560"/>
            <a:ext cx="2420640" cy="1427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3459960" y="3238560"/>
            <a:ext cx="37080" cy="14277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720" tIns="45000" rIns="187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6310440" y="3238560"/>
            <a:ext cx="2420640" cy="14277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6"/>
          <p:cNvSpPr/>
          <p:nvPr/>
        </p:nvSpPr>
        <p:spPr>
          <a:xfrm>
            <a:off x="6310440" y="3238560"/>
            <a:ext cx="37080" cy="14277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720" tIns="45000" rIns="187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ounded Rectangle 7"/>
          <p:cNvSpPr/>
          <p:nvPr/>
        </p:nvSpPr>
        <p:spPr>
          <a:xfrm>
            <a:off x="9160560" y="3238560"/>
            <a:ext cx="2420640" cy="1427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8"/>
          <p:cNvSpPr/>
          <p:nvPr/>
        </p:nvSpPr>
        <p:spPr>
          <a:xfrm>
            <a:off x="9160560" y="3238560"/>
            <a:ext cx="37080" cy="142776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720" tIns="45000" rIns="187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9" descr="image.png"/>
          <p:cNvPicPr/>
          <p:nvPr/>
        </p:nvPicPr>
        <p:blipFill>
          <a:blip r:embed="rId1"/>
          <a:stretch/>
        </p:blipFill>
        <p:spPr>
          <a:xfrm>
            <a:off x="3183840" y="3857760"/>
            <a:ext cx="12276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10" descr="image.png"/>
          <p:cNvPicPr/>
          <p:nvPr/>
        </p:nvPicPr>
        <p:blipFill>
          <a:blip r:embed="rId2"/>
          <a:stretch/>
        </p:blipFill>
        <p:spPr>
          <a:xfrm>
            <a:off x="6033960" y="3857760"/>
            <a:ext cx="12276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11" descr="image.png"/>
          <p:cNvPicPr/>
          <p:nvPr/>
        </p:nvPicPr>
        <p:blipFill>
          <a:blip r:embed="rId3"/>
          <a:stretch/>
        </p:blipFill>
        <p:spPr>
          <a:xfrm>
            <a:off x="8884440" y="3857760"/>
            <a:ext cx="1227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2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04. JERARQUÍA DE MEMORIA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609480" y="800280"/>
            <a:ext cx="79174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Flujo de Búsqueda Multinivel (L1, L2, L3)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4"/>
          <p:cNvSpPr/>
          <p:nvPr/>
        </p:nvSpPr>
        <p:spPr>
          <a:xfrm>
            <a:off x="838080" y="3467160"/>
            <a:ext cx="2058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NIVEL 1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5"/>
          <p:cNvSpPr/>
          <p:nvPr/>
        </p:nvSpPr>
        <p:spPr>
          <a:xfrm>
            <a:off x="3688560" y="3467160"/>
            <a:ext cx="2058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0284C7"/>
                </a:solidFill>
                <a:effectLst/>
                <a:uFillTx/>
                <a:latin typeface="Inter"/>
              </a:rPr>
              <a:t>NIVEL 2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6"/>
          <p:cNvSpPr/>
          <p:nvPr/>
        </p:nvSpPr>
        <p:spPr>
          <a:xfrm>
            <a:off x="6539040" y="3467160"/>
            <a:ext cx="2058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D97706"/>
                </a:solidFill>
                <a:effectLst/>
                <a:uFillTx/>
                <a:latin typeface="Inter"/>
              </a:rPr>
              <a:t>NIVEL 3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7"/>
          <p:cNvSpPr/>
          <p:nvPr/>
        </p:nvSpPr>
        <p:spPr>
          <a:xfrm>
            <a:off x="9389160" y="3467160"/>
            <a:ext cx="2058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DISCO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8"/>
          <p:cNvSpPr/>
          <p:nvPr/>
        </p:nvSpPr>
        <p:spPr>
          <a:xfrm>
            <a:off x="876240" y="3733920"/>
            <a:ext cx="96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Caché L1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9"/>
          <p:cNvSpPr/>
          <p:nvPr/>
        </p:nvSpPr>
        <p:spPr>
          <a:xfrm>
            <a:off x="876240" y="4057560"/>
            <a:ext cx="2020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Metadatos e inodos de uso inmediato.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0"/>
          <p:cNvSpPr/>
          <p:nvPr/>
        </p:nvSpPr>
        <p:spPr>
          <a:xfrm>
            <a:off x="3726720" y="3733920"/>
            <a:ext cx="96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Caché L2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1"/>
          <p:cNvSpPr/>
          <p:nvPr/>
        </p:nvSpPr>
        <p:spPr>
          <a:xfrm>
            <a:off x="3726720" y="4057560"/>
            <a:ext cx="2020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Bloques de datos y respaldo secundario.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2"/>
          <p:cNvSpPr/>
          <p:nvPr/>
        </p:nvSpPr>
        <p:spPr>
          <a:xfrm>
            <a:off x="6576840" y="3733920"/>
            <a:ext cx="9669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Caché L3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3"/>
          <p:cNvSpPr/>
          <p:nvPr/>
        </p:nvSpPr>
        <p:spPr>
          <a:xfrm>
            <a:off x="6576840" y="4057560"/>
            <a:ext cx="2020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Estructuras de directorio y contexto global.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4"/>
          <p:cNvSpPr/>
          <p:nvPr/>
        </p:nvSpPr>
        <p:spPr>
          <a:xfrm>
            <a:off x="9427320" y="3733920"/>
            <a:ext cx="1267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RAM / Disco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5"/>
          <p:cNvSpPr/>
          <p:nvPr/>
        </p:nvSpPr>
        <p:spPr>
          <a:xfrm>
            <a:off x="9427320" y="4057560"/>
            <a:ext cx="2020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Acceso completo con penalización de latencia.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ounded Rectangle 1"/>
          <p:cNvSpPr/>
          <p:nvPr/>
        </p:nvSpPr>
        <p:spPr>
          <a:xfrm>
            <a:off x="609480" y="2143080"/>
            <a:ext cx="10971720" cy="3542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4" name="Table 2"/>
          <p:cNvGraphicFramePr/>
          <p:nvPr/>
        </p:nvGraphicFramePr>
        <p:xfrm>
          <a:off x="609480" y="2143080"/>
          <a:ext cx="10962720" cy="3543120"/>
        </p:xfrm>
        <a:graphic>
          <a:graphicData uri="http://schemas.openxmlformats.org/drawingml/2006/table">
            <a:tbl>
              <a:tblPr/>
              <a:tblGrid>
                <a:gridCol w="3543840"/>
                <a:gridCol w="2961720"/>
                <a:gridCol w="4457520"/>
              </a:tblGrid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Space Grotesk"/>
                        </a:rPr>
                        <a:t>Característica</a:t>
                      </a:r>
                      <a:endParaRPr lang="es-V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Space Grotesk"/>
                        </a:rPr>
                        <a:t>FAT</a:t>
                      </a:r>
                      <a:endParaRPr lang="es-V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Space Grotesk"/>
                        </a:rPr>
                        <a:t>Ext2</a:t>
                      </a:r>
                      <a:endParaRPr lang="es-V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Gestión de Metadatos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Directorio plano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Inodos + directorios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Estrategia de Asignación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Tabla enlazada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Punteros directos/indirectos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Tamaño Máx. Archivo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Limitado por FAT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~ 2 GB (indirecto simple)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Fragmentación Externa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DC2626"/>
                          </a:solidFill>
                          <a:effectLst/>
                          <a:uFillTx/>
                          <a:latin typeface="Inter"/>
                        </a:rPr>
                        <a:t>Externa alta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</a:rPr>
                        <a:t>Externa moderada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Liberación de Recursos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Liberar cadena FAT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Liberar bloques + inodo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Jerarquía de Caché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L1/L2/L3 por bloque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L1 inodos, L2 datos, L3 directorio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3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05. ANÁLISIS COMPARATIVO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609480" y="800280"/>
            <a:ext cx="611244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Matriz Comparativa FAT vs Ext2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ounded Rectangle 1"/>
          <p:cNvSpPr/>
          <p:nvPr/>
        </p:nvSpPr>
        <p:spPr>
          <a:xfrm>
            <a:off x="609480" y="2852640"/>
            <a:ext cx="5204880" cy="2122920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ounded Rectangle 2"/>
          <p:cNvSpPr/>
          <p:nvPr/>
        </p:nvSpPr>
        <p:spPr>
          <a:xfrm>
            <a:off x="6272640" y="2819520"/>
            <a:ext cx="5308560" cy="99900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ounded Rectangle 3"/>
          <p:cNvSpPr/>
          <p:nvPr/>
        </p:nvSpPr>
        <p:spPr>
          <a:xfrm>
            <a:off x="6272640" y="4010040"/>
            <a:ext cx="5308560" cy="99900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06. RENDIMIENTO EN FAT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609480" y="800280"/>
            <a:ext cx="8894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Alta Efectividad de Caché en Arquitectura FAT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2025720" y="3243240"/>
            <a:ext cx="23720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ts val="7801"/>
              </a:lnSpc>
            </a:pPr>
            <a:r>
              <a:rPr lang="es-ES" sz="7800" b="1" u="none" strike="noStrike">
                <a:solidFill>
                  <a:srgbClr val="2563EB"/>
                </a:solidFill>
                <a:effectLst/>
                <a:uFillTx/>
                <a:latin typeface="Space Grotesk"/>
              </a:rPr>
              <a:t>80%</a:t>
            </a:r>
            <a:endParaRPr lang="es-E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1421640" y="4386240"/>
            <a:ext cx="35802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3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Aciertos globales absorbidos por Caché L2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6510960" y="3057480"/>
            <a:ext cx="28098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Sólida Localidad Temporal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6510960" y="3381480"/>
            <a:ext cx="43394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42% de efectividad en L1 consultando sectores clave.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6510960" y="4248000"/>
            <a:ext cx="30985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Flujo de Asignación Eficiente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6510960" y="4572000"/>
            <a:ext cx="46965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Recorrido secuencial fluido maximizando recursos físicos.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1"/>
          <p:cNvSpPr/>
          <p:nvPr/>
        </p:nvSpPr>
        <p:spPr>
          <a:xfrm>
            <a:off x="609480" y="2809800"/>
            <a:ext cx="5204880" cy="2246760"/>
          </a:xfrm>
          <a:prstGeom prst="roundRect">
            <a:avLst>
              <a:gd name="adj" fmla="val 6779"/>
            </a:avLst>
          </a:prstGeom>
          <a:solidFill>
            <a:srgbClr val="F0FDF4"/>
          </a:solidFill>
          <a:ln>
            <a:solidFill>
              <a:srgbClr val="BBF7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2"/>
          <p:cNvSpPr/>
          <p:nvPr/>
        </p:nvSpPr>
        <p:spPr>
          <a:xfrm>
            <a:off x="6272640" y="2838600"/>
            <a:ext cx="5308560" cy="9990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3"/>
          <p:cNvSpPr/>
          <p:nvPr/>
        </p:nvSpPr>
        <p:spPr>
          <a:xfrm>
            <a:off x="6272640" y="4029120"/>
            <a:ext cx="5308560" cy="99900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16A34A"/>
                </a:solidFill>
                <a:effectLst/>
                <a:uFillTx/>
                <a:latin typeface="Inter"/>
              </a:rPr>
              <a:t> 07. RENDIMIENTO EN EXT2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609480" y="800280"/>
            <a:ext cx="70146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Sinergia y Estabilidad Sobresaliente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2514600" y="3200400"/>
            <a:ext cx="13942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166534"/>
                </a:solidFill>
                <a:effectLst/>
                <a:uFillTx/>
                <a:latin typeface="JetBrains Mono"/>
              </a:rPr>
              <a:t>NIVELES L1 Y L2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916640" y="3476520"/>
            <a:ext cx="25905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ts val="6599"/>
              </a:lnSpc>
            </a:pPr>
            <a:r>
              <a:rPr lang="es-ES" sz="6600" b="1" u="none" strike="noStrike">
                <a:solidFill>
                  <a:srgbClr val="16A34A"/>
                </a:solidFill>
                <a:effectLst/>
                <a:uFillTx/>
                <a:latin typeface="Space Grotesk"/>
              </a:rPr>
              <a:t>100%</a:t>
            </a:r>
            <a:endParaRPr lang="es-E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1490400" y="4467240"/>
            <a:ext cx="34430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350" b="1" u="none" strike="noStrike">
                <a:solidFill>
                  <a:srgbClr val="14532D"/>
                </a:solidFill>
                <a:effectLst/>
                <a:uFillTx/>
                <a:latin typeface="Inter"/>
              </a:rPr>
              <a:t>Tasa de acierto en Inodos y Datos activos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6510960" y="3076560"/>
            <a:ext cx="2455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Estabilidad Estructural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6510960" y="3400560"/>
            <a:ext cx="43336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Recuperación inmediata reteniendo mapas de inodos.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6510960" y="4267080"/>
            <a:ext cx="2435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Gestión Coordinada L3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6510960" y="4591080"/>
            <a:ext cx="41698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Alternancia fluida y ágil entre directorios de trabajo.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ounded Rectangle 1"/>
          <p:cNvSpPr/>
          <p:nvPr/>
        </p:nvSpPr>
        <p:spPr>
          <a:xfrm>
            <a:off x="609480" y="2800440"/>
            <a:ext cx="5371200" cy="103716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ounded Rectangle 2"/>
          <p:cNvSpPr/>
          <p:nvPr/>
        </p:nvSpPr>
        <p:spPr>
          <a:xfrm>
            <a:off x="6210360" y="2800440"/>
            <a:ext cx="5371200" cy="103716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3"/>
          <p:cNvSpPr/>
          <p:nvPr/>
        </p:nvSpPr>
        <p:spPr>
          <a:xfrm>
            <a:off x="609480" y="4067280"/>
            <a:ext cx="5371200" cy="103716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4"/>
          <p:cNvSpPr/>
          <p:nvPr/>
        </p:nvSpPr>
        <p:spPr>
          <a:xfrm>
            <a:off x="6210360" y="4067280"/>
            <a:ext cx="5371200" cy="103716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4" name="Picture 5" descr="image.png"/>
          <p:cNvPicPr/>
          <p:nvPr/>
        </p:nvPicPr>
        <p:blipFill>
          <a:blip r:embed="rId1"/>
          <a:stretch/>
        </p:blipFill>
        <p:spPr>
          <a:xfrm>
            <a:off x="885960" y="3186000"/>
            <a:ext cx="26568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6" descr="image.png"/>
          <p:cNvPicPr/>
          <p:nvPr/>
        </p:nvPicPr>
        <p:blipFill>
          <a:blip r:embed="rId2"/>
          <a:stretch/>
        </p:blipFill>
        <p:spPr>
          <a:xfrm>
            <a:off x="6486480" y="3186000"/>
            <a:ext cx="30384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7" descr="image.png"/>
          <p:cNvPicPr/>
          <p:nvPr/>
        </p:nvPicPr>
        <p:blipFill>
          <a:blip r:embed="rId3"/>
          <a:stretch/>
        </p:blipFill>
        <p:spPr>
          <a:xfrm>
            <a:off x="885960" y="4452840"/>
            <a:ext cx="30384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8" descr="image.png"/>
          <p:cNvPicPr/>
          <p:nvPr/>
        </p:nvPicPr>
        <p:blipFill>
          <a:blip r:embed="rId4"/>
          <a:stretch/>
        </p:blipFill>
        <p:spPr>
          <a:xfrm>
            <a:off x="6486480" y="4452840"/>
            <a:ext cx="23688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Box 9"/>
          <p:cNvSpPr/>
          <p:nvPr/>
        </p:nvSpPr>
        <p:spPr>
          <a:xfrm>
            <a:off x="609480" y="533520"/>
            <a:ext cx="110671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08. EVALUACIÓN DE LIMITACIONES </a:t>
            </a:r>
            <a:endParaRPr lang="es-E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609480" y="800280"/>
            <a:ext cx="790668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Limitaciones Detectadas en el Simulador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1343160" y="3076560"/>
            <a:ext cx="17046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Sin Invalidación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1343160" y="3362400"/>
            <a:ext cx="3384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Entradas en caché persisten tras borrado.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6981840" y="3076560"/>
            <a:ext cx="1987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Indirección Simple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6981840" y="3362400"/>
            <a:ext cx="3744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Ausencia de punteros dobles y triples en Ext2.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1380960" y="4343400"/>
            <a:ext cx="1686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Memoria Volátil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1380960" y="4629240"/>
            <a:ext cx="36406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Almacenamiento exclusivo en RAM simulada.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6915240" y="4343400"/>
            <a:ext cx="23860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Nombres Restringidos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6915240" y="4629240"/>
            <a:ext cx="3582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Archivos no permiten caracteres especiales.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609480" y="5857920"/>
            <a:ext cx="10971720" cy="3895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2"/>
          <p:cNvSpPr/>
          <p:nvPr/>
        </p:nvSpPr>
        <p:spPr>
          <a:xfrm>
            <a:off x="609480" y="2624040"/>
            <a:ext cx="8571600" cy="5227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609480" y="3376440"/>
            <a:ext cx="8571600" cy="5227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609480" y="4129200"/>
            <a:ext cx="8571600" cy="5227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5"/>
          <p:cNvSpPr/>
          <p:nvPr/>
        </p:nvSpPr>
        <p:spPr>
          <a:xfrm>
            <a:off x="609480" y="5857920"/>
            <a:ext cx="10971720" cy="828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6"/>
          <p:cNvSpPr/>
          <p:nvPr/>
        </p:nvSpPr>
        <p:spPr>
          <a:xfrm>
            <a:off x="609480" y="2624040"/>
            <a:ext cx="27360" cy="5227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680" tIns="45000" rIns="1368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7"/>
          <p:cNvSpPr/>
          <p:nvPr/>
        </p:nvSpPr>
        <p:spPr>
          <a:xfrm>
            <a:off x="609480" y="3376440"/>
            <a:ext cx="27360" cy="5227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680" tIns="45000" rIns="1368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609480" y="4129200"/>
            <a:ext cx="27360" cy="5227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680" tIns="45000" rIns="1368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609480" y="609480"/>
            <a:ext cx="11067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38BDF8"/>
                </a:solidFill>
                <a:effectLst/>
                <a:uFillTx/>
                <a:latin typeface="Inter"/>
              </a:rPr>
              <a:t> 09. CONCLUSION 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609480" y="914400"/>
            <a:ext cx="802080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31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Lecciones de Diseño Arquitectónico</a:t>
            </a:r>
            <a:endParaRPr lang="es-ES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609480" y="6058080"/>
            <a:ext cx="3452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Simulador de Sistemas de Archivos (FAT y Ext2)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9982080" y="6058080"/>
            <a:ext cx="1634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38BDF8"/>
                </a:solidFill>
                <a:effectLst/>
                <a:uFillTx/>
                <a:latin typeface="Inter"/>
              </a:rPr>
              <a:t>Fin de la Presentación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866880" y="2624040"/>
            <a:ext cx="296748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FAT y Localidad Temporal</a:t>
            </a:r>
            <a:endParaRPr lang="es-E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866880" y="2948040"/>
            <a:ext cx="60534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Esquema secuencial logra altas tasas de acierto reteniendo sectores clave.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866880" y="3376440"/>
            <a:ext cx="2048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Robustez en Ext2</a:t>
            </a:r>
            <a:endParaRPr lang="es-E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6"/>
          <p:cNvSpPr/>
          <p:nvPr/>
        </p:nvSpPr>
        <p:spPr>
          <a:xfrm>
            <a:off x="866880" y="3700440"/>
            <a:ext cx="61354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Estabilidad sobresaliente al desacoplar metadatos en estructuras de inodos.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866880" y="4129200"/>
            <a:ext cx="34268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Importancia de la Simulación</a:t>
            </a:r>
            <a:endParaRPr lang="es-E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8"/>
          <p:cNvSpPr/>
          <p:nvPr/>
        </p:nvSpPr>
        <p:spPr>
          <a:xfrm>
            <a:off x="866880" y="4452840"/>
            <a:ext cx="6334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Modelar la jerarquía de memoria revela el impacto real de la latencia operativa.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es-VE</dc:language>
  <cp:lastModifiedBy/>
  <dcterms:modified xsi:type="dcterms:W3CDTF">2026-10-11T19:12:32Z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