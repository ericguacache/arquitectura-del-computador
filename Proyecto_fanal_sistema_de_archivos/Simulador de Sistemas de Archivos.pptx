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44F20B-6E2D-40D0-BCF5-8FB7D8560F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CE31D7-764E-4463-91FD-42B7ECED94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972058-B5C1-4953-919C-889ACD3D27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A649B2-9582-4A5A-9113-81BCF156D6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1B6550E-AE90-4405-B0B1-FD945CF5B16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8B0C9A-BC63-4A75-A9B1-64B87C38EB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8686B17-98D8-47EB-869F-CEA11F79B2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CCA3B7-10CE-486C-9112-4577510E5E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13C0CB-8E98-4F3D-B56F-C6BB9E568D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6DA8F9-CC1D-4CEB-B4FD-79C35A39B3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s-V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dos veces para añadir una imagen</a:t>
            </a:r>
            <a:endParaRPr lang="es-V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3A34A78-322C-47ED-A27B-05F908C938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609480" y="5619600"/>
            <a:ext cx="10972440" cy="628200"/>
          </a:xfrm>
          <a:prstGeom prst="rect">
            <a:avLst/>
          </a:prstGeom>
          <a:noFill/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609480" y="5619600"/>
            <a:ext cx="10972440" cy="900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609480" y="609480"/>
            <a:ext cx="47739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38BDF8"/>
                </a:solidFill>
                <a:effectLst/>
                <a:uFillTx/>
                <a:latin typeface="Space Grotesk"/>
              </a:rPr>
              <a:t>INFORME DE PROYECTO · 6 DE OCTUBRE DE 2026</a:t>
            </a:r>
            <a:endParaRPr lang="es-VE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9829800" y="609480"/>
            <a:ext cx="21902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JetBrains Mono"/>
              </a:rPr>
              <a:t>C++ / MEMORY SIMULATION</a:t>
            </a:r>
            <a:endParaRPr lang="es-VE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609480" y="2185200"/>
            <a:ext cx="9100800" cy="11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ts val="4620"/>
              </a:lnSpc>
            </a:pPr>
            <a:r>
              <a:rPr lang="en-US" sz="4200" b="1" u="none" strike="noStrike">
                <a:solidFill>
                  <a:srgbClr val="F8FAFC"/>
                </a:solidFill>
                <a:effectLst/>
                <a:uFillTx/>
                <a:latin typeface="Space Grotesk"/>
              </a:rPr>
              <a:t>Simulador de Sistemas de Archivos con Bloques</a:t>
            </a:r>
            <a:endParaRPr lang="es-VE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609480" y="3587040"/>
            <a:ext cx="7524360" cy="6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ts val="2475"/>
              </a:lnSpc>
            </a:pPr>
            <a:r>
              <a:rPr lang="en-US" sz="1650" b="0" u="none" strike="noStrike">
                <a:solidFill>
                  <a:srgbClr val="94A3B8"/>
                </a:solidFill>
                <a:effectLst/>
                <a:uFillTx/>
                <a:latin typeface="Inter"/>
              </a:rPr>
              <a:t>Emulación arquitectónica de FAT y Ext2 integrados a una jerarquía estricta de memoria caché (L1, L2, L3)</a:t>
            </a:r>
            <a:endParaRPr lang="es-VE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609480" y="5857920"/>
            <a:ext cx="286920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64748B"/>
                </a:solidFill>
                <a:effectLst/>
                <a:uFillTx/>
                <a:latin typeface="Inter"/>
              </a:rPr>
              <a:t>AUTOR</a:t>
            </a:r>
            <a:endParaRPr lang="es-VE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609480" y="6058080"/>
            <a:ext cx="2869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E2E8F0"/>
                </a:solidFill>
                <a:effectLst/>
                <a:uFillTx/>
                <a:latin typeface="Inter"/>
              </a:rPr>
              <a:t>Eric Guacache (C.I: 31.788.759)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3362400" y="5857920"/>
            <a:ext cx="297612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64748B"/>
                </a:solidFill>
                <a:effectLst/>
                <a:uFillTx/>
                <a:latin typeface="Inter"/>
              </a:rPr>
              <a:t>COAUTOR</a:t>
            </a:r>
            <a:endParaRPr lang="es-VE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362400" y="6058080"/>
            <a:ext cx="2976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E2E8F0"/>
                </a:solidFill>
                <a:effectLst/>
                <a:uFillTx/>
                <a:latin typeface="Inter"/>
              </a:rPr>
              <a:t>Renny Andrade (C.I: 29.727.828)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ounded Rectangle 1"/>
          <p:cNvSpPr/>
          <p:nvPr/>
        </p:nvSpPr>
        <p:spPr>
          <a:xfrm>
            <a:off x="609480" y="1943280"/>
            <a:ext cx="5257440" cy="119988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Rounded Rectangle 2"/>
          <p:cNvSpPr/>
          <p:nvPr/>
        </p:nvSpPr>
        <p:spPr>
          <a:xfrm>
            <a:off x="609480" y="3333600"/>
            <a:ext cx="5257440" cy="119988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ounded Rectangle 3"/>
          <p:cNvSpPr/>
          <p:nvPr/>
        </p:nvSpPr>
        <p:spPr>
          <a:xfrm>
            <a:off x="609480" y="4724280"/>
            <a:ext cx="5257440" cy="119988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4" name="Picture 4" descr="image.png"/>
          <p:cNvPicPr/>
          <p:nvPr/>
        </p:nvPicPr>
        <p:blipFill>
          <a:blip r:embed="rId1"/>
          <a:stretch/>
        </p:blipFill>
        <p:spPr>
          <a:xfrm>
            <a:off x="6324480" y="2124000"/>
            <a:ext cx="5257440" cy="361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Picture 5" descr="image.png"/>
          <p:cNvPicPr/>
          <p:nvPr/>
        </p:nvPicPr>
        <p:blipFill>
          <a:blip r:embed="rId2"/>
          <a:stretch/>
        </p:blipFill>
        <p:spPr>
          <a:xfrm>
            <a:off x="847800" y="2209680"/>
            <a:ext cx="19008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Picture 6" descr="image.png"/>
          <p:cNvPicPr/>
          <p:nvPr/>
        </p:nvPicPr>
        <p:blipFill>
          <a:blip r:embed="rId3"/>
          <a:stretch/>
        </p:blipFill>
        <p:spPr>
          <a:xfrm>
            <a:off x="847800" y="3600360"/>
            <a:ext cx="19008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Picture 7" descr="image.png"/>
          <p:cNvPicPr/>
          <p:nvPr/>
        </p:nvPicPr>
        <p:blipFill>
          <a:blip r:embed="rId4"/>
          <a:stretch/>
        </p:blipFill>
        <p:spPr>
          <a:xfrm>
            <a:off x="847800" y="4991040"/>
            <a:ext cx="1710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Box 8"/>
          <p:cNvSpPr/>
          <p:nvPr/>
        </p:nvSpPr>
        <p:spPr>
          <a:xfrm>
            <a:off x="609480" y="533520"/>
            <a:ext cx="11067840" cy="70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Inter"/>
              </a:rPr>
              <a:t> 01. EL DESAFÍO TÉCNICO 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9"/>
          <p:cNvSpPr/>
          <p:nvPr/>
        </p:nvSpPr>
        <p:spPr>
          <a:xfrm>
            <a:off x="609480" y="800280"/>
            <a:ext cx="115819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El Problema de Emulación a Bajo Nivel</a:t>
            </a:r>
            <a:endParaRPr lang="es-VE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847800" y="2181240"/>
            <a:ext cx="6275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8584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Abstracción de Almacenamiento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1"/>
          <p:cNvSpPr/>
          <p:nvPr/>
        </p:nvSpPr>
        <p:spPr>
          <a:xfrm>
            <a:off x="847800" y="2505240"/>
            <a:ext cx="4876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Modelado explícito de bloques físicos y estructuras de metadatos.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2"/>
          <p:cNvSpPr/>
          <p:nvPr/>
        </p:nvSpPr>
        <p:spPr>
          <a:xfrm>
            <a:off x="847800" y="3571920"/>
            <a:ext cx="6275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8584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Penalización por Latencia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3"/>
          <p:cNvSpPr/>
          <p:nvPr/>
        </p:nvSpPr>
        <p:spPr>
          <a:xfrm>
            <a:off x="847800" y="3895560"/>
            <a:ext cx="4876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Costos de acceso descendentes desde L1 hasta memoria RAM o disco.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4"/>
          <p:cNvSpPr/>
          <p:nvPr/>
        </p:nvSpPr>
        <p:spPr>
          <a:xfrm>
            <a:off x="847800" y="4962600"/>
            <a:ext cx="6275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676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Sincronización de Metadatos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5"/>
          <p:cNvSpPr/>
          <p:nvPr/>
        </p:nvSpPr>
        <p:spPr>
          <a:xfrm>
            <a:off x="847800" y="5286240"/>
            <a:ext cx="4876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Impacto directo de las modificaciones lógicas en sectores físicos.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ounded Rectangle 1"/>
          <p:cNvSpPr/>
          <p:nvPr/>
        </p:nvSpPr>
        <p:spPr>
          <a:xfrm>
            <a:off x="609480" y="2647800"/>
            <a:ext cx="3504960" cy="2609640"/>
          </a:xfrm>
          <a:prstGeom prst="roundRect">
            <a:avLst>
              <a:gd name="adj" fmla="val 5839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ounded Rectangle 2"/>
          <p:cNvSpPr/>
          <p:nvPr/>
        </p:nvSpPr>
        <p:spPr>
          <a:xfrm>
            <a:off x="4343400" y="2647800"/>
            <a:ext cx="3504960" cy="2609640"/>
          </a:xfrm>
          <a:prstGeom prst="roundRect">
            <a:avLst>
              <a:gd name="adj" fmla="val 5839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Rounded Rectangle 3"/>
          <p:cNvSpPr/>
          <p:nvPr/>
        </p:nvSpPr>
        <p:spPr>
          <a:xfrm>
            <a:off x="8077320" y="2647800"/>
            <a:ext cx="3504960" cy="2609640"/>
          </a:xfrm>
          <a:prstGeom prst="roundRect">
            <a:avLst>
              <a:gd name="adj" fmla="val 5839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Picture 4" descr="image.png"/>
          <p:cNvPicPr/>
          <p:nvPr/>
        </p:nvPicPr>
        <p:blipFill>
          <a:blip r:embed="rId1"/>
          <a:stretch/>
        </p:blipFill>
        <p:spPr>
          <a:xfrm>
            <a:off x="923760" y="296244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Picture 5" descr="image.png"/>
          <p:cNvPicPr/>
          <p:nvPr/>
        </p:nvPicPr>
        <p:blipFill>
          <a:blip r:embed="rId2"/>
          <a:stretch/>
        </p:blipFill>
        <p:spPr>
          <a:xfrm>
            <a:off x="4657680" y="296244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Picture 6" descr="image.png"/>
          <p:cNvPicPr/>
          <p:nvPr/>
        </p:nvPicPr>
        <p:blipFill>
          <a:blip r:embed="rId3"/>
          <a:stretch/>
        </p:blipFill>
        <p:spPr>
          <a:xfrm>
            <a:off x="8391600" y="296244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Picture 7" descr="image.png"/>
          <p:cNvPicPr/>
          <p:nvPr/>
        </p:nvPicPr>
        <p:blipFill>
          <a:blip r:embed="rId4"/>
          <a:stretch/>
        </p:blipFill>
        <p:spPr>
          <a:xfrm>
            <a:off x="1033560" y="3095640"/>
            <a:ext cx="2376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Picture 8" descr="image.png"/>
          <p:cNvPicPr/>
          <p:nvPr/>
        </p:nvPicPr>
        <p:blipFill>
          <a:blip r:embed="rId5"/>
          <a:stretch/>
        </p:blipFill>
        <p:spPr>
          <a:xfrm>
            <a:off x="4776840" y="3095640"/>
            <a:ext cx="21888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Picture 9" descr="image.png"/>
          <p:cNvPicPr/>
          <p:nvPr/>
        </p:nvPicPr>
        <p:blipFill>
          <a:blip r:embed="rId6"/>
          <a:stretch/>
        </p:blipFill>
        <p:spPr>
          <a:xfrm>
            <a:off x="8510760" y="3095640"/>
            <a:ext cx="21888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Box 10"/>
          <p:cNvSpPr/>
          <p:nvPr/>
        </p:nvSpPr>
        <p:spPr>
          <a:xfrm>
            <a:off x="609480" y="533520"/>
            <a:ext cx="11067840" cy="70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Inter"/>
              </a:rPr>
              <a:t> 02. ESTRUCTURA EN DISCO 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1"/>
          <p:cNvSpPr/>
          <p:nvPr/>
        </p:nvSpPr>
        <p:spPr>
          <a:xfrm>
            <a:off x="609480" y="800280"/>
            <a:ext cx="115819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FAT vs Ext2: Organización de Asignación</a:t>
            </a:r>
            <a:endParaRPr lang="es-VE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2"/>
          <p:cNvSpPr/>
          <p:nvPr/>
        </p:nvSpPr>
        <p:spPr>
          <a:xfrm>
            <a:off x="923760" y="3610080"/>
            <a:ext cx="37749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FAT · Cadena Lineal</a:t>
            </a:r>
            <a:endParaRPr lang="es-VE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3"/>
          <p:cNvSpPr/>
          <p:nvPr/>
        </p:nvSpPr>
        <p:spPr>
          <a:xfrm>
            <a:off x="923760" y="3990960"/>
            <a:ext cx="3595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Tabla centralizada en disco.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4"/>
          <p:cNvSpPr/>
          <p:nvPr/>
        </p:nvSpPr>
        <p:spPr>
          <a:xfrm>
            <a:off x="923760" y="4343400"/>
            <a:ext cx="2971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Recorrido enlazado bloque a bloque.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5"/>
          <p:cNvSpPr/>
          <p:nvPr/>
        </p:nvSpPr>
        <p:spPr>
          <a:xfrm>
            <a:off x="4657680" y="3610080"/>
            <a:ext cx="37749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Ext2 · Inodos Directos</a:t>
            </a:r>
            <a:endParaRPr lang="es-VE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6"/>
          <p:cNvSpPr/>
          <p:nvPr/>
        </p:nvSpPr>
        <p:spPr>
          <a:xfrm>
            <a:off x="4657680" y="3990960"/>
            <a:ext cx="2971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Desacoplamiento de nombres y metadatos.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7"/>
          <p:cNvSpPr/>
          <p:nvPr/>
        </p:nvSpPr>
        <p:spPr>
          <a:xfrm>
            <a:off x="4657680" y="4543560"/>
            <a:ext cx="3595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Punteros directos e indirectos.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8"/>
          <p:cNvSpPr/>
          <p:nvPr/>
        </p:nvSpPr>
        <p:spPr>
          <a:xfrm>
            <a:off x="8391600" y="3610080"/>
            <a:ext cx="37749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Ext2 · Grupos de Bloques</a:t>
            </a:r>
            <a:endParaRPr lang="es-VE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9"/>
          <p:cNvSpPr/>
          <p:nvPr/>
        </p:nvSpPr>
        <p:spPr>
          <a:xfrm>
            <a:off x="8391600" y="3990960"/>
            <a:ext cx="2971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Superbloque y mapas de bits locales.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8391600" y="4543560"/>
            <a:ext cx="2971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Mitigación de fragmentación externa.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ounded Rectangle 1"/>
          <p:cNvSpPr/>
          <p:nvPr/>
        </p:nvSpPr>
        <p:spPr>
          <a:xfrm>
            <a:off x="609480" y="3072960"/>
            <a:ext cx="6040440" cy="1721520"/>
          </a:xfrm>
          <a:prstGeom prst="roundRect">
            <a:avLst>
              <a:gd name="adj" fmla="val 6637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ounded Rectangle 2"/>
          <p:cNvSpPr/>
          <p:nvPr/>
        </p:nvSpPr>
        <p:spPr>
          <a:xfrm>
            <a:off x="6993000" y="2838600"/>
            <a:ext cx="4588920" cy="9997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Rounded Rectangle 3"/>
          <p:cNvSpPr/>
          <p:nvPr/>
        </p:nvSpPr>
        <p:spPr>
          <a:xfrm>
            <a:off x="6993000" y="4029120"/>
            <a:ext cx="4588920" cy="9997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4"/>
          <p:cNvSpPr/>
          <p:nvPr/>
        </p:nvSpPr>
        <p:spPr>
          <a:xfrm>
            <a:off x="609480" y="533520"/>
            <a:ext cx="11067840" cy="70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Inter"/>
              </a:rPr>
              <a:t> 03. IMPLEMENTACIÓN EN C++ 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5"/>
          <p:cNvSpPr/>
          <p:nvPr/>
        </p:nvSpPr>
        <p:spPr>
          <a:xfrm>
            <a:off x="609480" y="800280"/>
            <a:ext cx="115819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Modelado del Disco con Vectores Anidados</a:t>
            </a:r>
            <a:endParaRPr lang="es-VE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6"/>
          <p:cNvSpPr/>
          <p:nvPr/>
        </p:nvSpPr>
        <p:spPr>
          <a:xfrm>
            <a:off x="876240" y="3339720"/>
            <a:ext cx="6883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ts val="1800"/>
              </a:lnSpc>
            </a:pPr>
            <a:r>
              <a:rPr lang="en-US" sz="1130" b="0" u="none" strike="noStrike">
                <a:solidFill>
                  <a:srgbClr val="64748B"/>
                </a:solidFill>
                <a:effectLst/>
                <a:uFillTx/>
                <a:latin typeface="JetBrains Mono"/>
              </a:rPr>
              <a:t>// Representación bidimensional del disco físico</a:t>
            </a:r>
            <a:endParaRPr lang="es-VE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876240" y="3682440"/>
            <a:ext cx="6883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ts val="1800"/>
              </a:lnSpc>
            </a:pPr>
            <a:r>
              <a:rPr lang="en-US" sz="1130" b="0" u="none" strike="noStrike">
                <a:solidFill>
                  <a:srgbClr val="38BDF8"/>
                </a:solidFill>
                <a:effectLst/>
                <a:uFillTx/>
                <a:latin typeface="JetBrains Mono"/>
              </a:rPr>
              <a:t>std::vector</a:t>
            </a:r>
            <a:r>
              <a:rPr lang="en-US" sz="1130" b="0" u="none" strike="noStrike">
                <a:solidFill>
                  <a:srgbClr val="F8FAFC"/>
                </a:solidFill>
                <a:effectLst/>
                <a:uFillTx/>
                <a:latin typeface="JetBrains Mono"/>
              </a:rPr>
              <a:t>&lt;</a:t>
            </a:r>
            <a:r>
              <a:rPr lang="en-US" sz="1130" b="0" u="none" strike="noStrike">
                <a:solidFill>
                  <a:srgbClr val="38BDF8"/>
                </a:solidFill>
                <a:effectLst/>
                <a:uFillTx/>
                <a:latin typeface="JetBrains Mono"/>
              </a:rPr>
              <a:t>std::vector</a:t>
            </a:r>
            <a:r>
              <a:rPr lang="en-US" sz="1130" b="0" u="none" strike="noStrike">
                <a:solidFill>
                  <a:srgbClr val="F8FAFC"/>
                </a:solidFill>
                <a:effectLst/>
                <a:uFillTx/>
                <a:latin typeface="JetBrains Mono"/>
              </a:rPr>
              <a:t>&lt;</a:t>
            </a:r>
            <a:r>
              <a:rPr lang="en-US" sz="1130" b="0" u="none" strike="noStrike">
                <a:solidFill>
                  <a:srgbClr val="F59E0B"/>
                </a:solidFill>
                <a:effectLst/>
                <a:uFillTx/>
                <a:latin typeface="JetBrains Mono"/>
              </a:rPr>
              <a:t>char</a:t>
            </a:r>
            <a:r>
              <a:rPr lang="en-US" sz="1130" b="0" u="none" strike="noStrike">
                <a:solidFill>
                  <a:srgbClr val="F8FAFC"/>
                </a:solidFill>
                <a:effectLst/>
                <a:uFillTx/>
                <a:latin typeface="JetBrains Mono"/>
              </a:rPr>
              <a:t>&gt;&gt; </a:t>
            </a:r>
            <a:r>
              <a:rPr lang="en-US" sz="1130" b="0" u="none" strike="noStrike">
                <a:solidFill>
                  <a:srgbClr val="4ADE80"/>
                </a:solidFill>
                <a:effectLst/>
                <a:uFillTx/>
                <a:latin typeface="JetBrains Mono"/>
              </a:rPr>
              <a:t>discoFisico</a:t>
            </a:r>
            <a:r>
              <a:rPr lang="en-US" sz="1130" b="0" u="none" strike="noStrike">
                <a:solidFill>
                  <a:srgbClr val="F8FAFC"/>
                </a:solidFill>
                <a:effectLst/>
                <a:uFillTx/>
                <a:latin typeface="JetBrains Mono"/>
              </a:rPr>
              <a:t>;</a:t>
            </a:r>
            <a:endParaRPr lang="es-VE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876240" y="4101480"/>
            <a:ext cx="56019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/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JetBrains Mono"/>
              </a:rPr>
              <a:t>// Vector externo: Conjunto de bloques de tamaño fijo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ts val="1678"/>
              </a:lnSpc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JetBrains Mono"/>
              </a:rPr>
              <a:t> // Vector interno: Contenido en bytes de cada bloque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9"/>
          <p:cNvSpPr/>
          <p:nvPr/>
        </p:nvSpPr>
        <p:spPr>
          <a:xfrm>
            <a:off x="7231320" y="3076560"/>
            <a:ext cx="496044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Estructura FAT en C++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7231320" y="3400560"/>
            <a:ext cx="49604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Boot sector y tabla FAT en primeros bloques.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7231320" y="4267080"/>
            <a:ext cx="496044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Estructura Ext2 en C++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2"/>
          <p:cNvSpPr/>
          <p:nvPr/>
        </p:nvSpPr>
        <p:spPr>
          <a:xfrm>
            <a:off x="7231320" y="4591080"/>
            <a:ext cx="49604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Distribución conceptual de grupos de bloques.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ounded Rectangle 1"/>
          <p:cNvSpPr/>
          <p:nvPr/>
        </p:nvSpPr>
        <p:spPr>
          <a:xfrm>
            <a:off x="609480" y="3238560"/>
            <a:ext cx="2421360" cy="14284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Rectangle 2"/>
          <p:cNvSpPr/>
          <p:nvPr/>
        </p:nvSpPr>
        <p:spPr>
          <a:xfrm>
            <a:off x="609480" y="3238560"/>
            <a:ext cx="37800" cy="14284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Rounded Rectangle 3"/>
          <p:cNvSpPr/>
          <p:nvPr/>
        </p:nvSpPr>
        <p:spPr>
          <a:xfrm>
            <a:off x="3459960" y="3238560"/>
            <a:ext cx="2421360" cy="14284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Rectangle 4"/>
          <p:cNvSpPr/>
          <p:nvPr/>
        </p:nvSpPr>
        <p:spPr>
          <a:xfrm>
            <a:off x="3459960" y="3238560"/>
            <a:ext cx="37800" cy="1428480"/>
          </a:xfrm>
          <a:prstGeom prst="rect">
            <a:avLst/>
          </a:prstGeom>
          <a:solidFill>
            <a:srgbClr val="0284C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Rounded Rectangle 5"/>
          <p:cNvSpPr/>
          <p:nvPr/>
        </p:nvSpPr>
        <p:spPr>
          <a:xfrm>
            <a:off x="6310440" y="3238560"/>
            <a:ext cx="2421360" cy="14284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6"/>
          <p:cNvSpPr/>
          <p:nvPr/>
        </p:nvSpPr>
        <p:spPr>
          <a:xfrm>
            <a:off x="6310440" y="3238560"/>
            <a:ext cx="37800" cy="142848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Rounded Rectangle 7"/>
          <p:cNvSpPr/>
          <p:nvPr/>
        </p:nvSpPr>
        <p:spPr>
          <a:xfrm>
            <a:off x="9160560" y="3238560"/>
            <a:ext cx="2421360" cy="1428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Rectangle 8"/>
          <p:cNvSpPr/>
          <p:nvPr/>
        </p:nvSpPr>
        <p:spPr>
          <a:xfrm>
            <a:off x="9160560" y="3238560"/>
            <a:ext cx="37800" cy="1428480"/>
          </a:xfrm>
          <a:prstGeom prst="rect">
            <a:avLst/>
          </a:prstGeom>
          <a:solidFill>
            <a:srgbClr val="6474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6" name="Picture 9" descr="image.png"/>
          <p:cNvPicPr/>
          <p:nvPr/>
        </p:nvPicPr>
        <p:blipFill>
          <a:blip r:embed="rId1"/>
          <a:stretch/>
        </p:blipFill>
        <p:spPr>
          <a:xfrm>
            <a:off x="3183840" y="3857760"/>
            <a:ext cx="12348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Picture 10" descr="image.png"/>
          <p:cNvPicPr/>
          <p:nvPr/>
        </p:nvPicPr>
        <p:blipFill>
          <a:blip r:embed="rId2"/>
          <a:stretch/>
        </p:blipFill>
        <p:spPr>
          <a:xfrm>
            <a:off x="6033960" y="3857760"/>
            <a:ext cx="12348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Picture 11" descr="image.png"/>
          <p:cNvPicPr/>
          <p:nvPr/>
        </p:nvPicPr>
        <p:blipFill>
          <a:blip r:embed="rId3"/>
          <a:stretch/>
        </p:blipFill>
        <p:spPr>
          <a:xfrm>
            <a:off x="8884440" y="3857760"/>
            <a:ext cx="12348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Box 12"/>
          <p:cNvSpPr/>
          <p:nvPr/>
        </p:nvSpPr>
        <p:spPr>
          <a:xfrm>
            <a:off x="609480" y="533520"/>
            <a:ext cx="11067840" cy="70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Inter"/>
              </a:rPr>
              <a:t> 04. JERARQUÍA DE MEMORIA 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3"/>
          <p:cNvSpPr/>
          <p:nvPr/>
        </p:nvSpPr>
        <p:spPr>
          <a:xfrm>
            <a:off x="609480" y="800280"/>
            <a:ext cx="115819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Flujo de Búsqueda Multinivel (L1, L2, L3)</a:t>
            </a:r>
            <a:endParaRPr lang="es-VE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4"/>
          <p:cNvSpPr/>
          <p:nvPr/>
        </p:nvSpPr>
        <p:spPr>
          <a:xfrm>
            <a:off x="838080" y="3467160"/>
            <a:ext cx="2059560" cy="9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Inter"/>
              </a:rPr>
              <a:t>NIVEL 1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5"/>
          <p:cNvSpPr/>
          <p:nvPr/>
        </p:nvSpPr>
        <p:spPr>
          <a:xfrm>
            <a:off x="3688560" y="3467160"/>
            <a:ext cx="2059560" cy="9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0284C7"/>
                </a:solidFill>
                <a:effectLst/>
                <a:uFillTx/>
                <a:latin typeface="Inter"/>
              </a:rPr>
              <a:t>NIVEL 2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6"/>
          <p:cNvSpPr/>
          <p:nvPr/>
        </p:nvSpPr>
        <p:spPr>
          <a:xfrm>
            <a:off x="6539040" y="3467160"/>
            <a:ext cx="2059560" cy="9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D97706"/>
                </a:solidFill>
                <a:effectLst/>
                <a:uFillTx/>
                <a:latin typeface="Inter"/>
              </a:rPr>
              <a:t>NIVEL 3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7"/>
          <p:cNvSpPr/>
          <p:nvPr/>
        </p:nvSpPr>
        <p:spPr>
          <a:xfrm>
            <a:off x="9389160" y="3467160"/>
            <a:ext cx="2059560" cy="9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94A3B8"/>
                </a:solidFill>
                <a:effectLst/>
                <a:uFillTx/>
                <a:latin typeface="Inter"/>
              </a:rPr>
              <a:t>DISCO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18"/>
          <p:cNvSpPr/>
          <p:nvPr/>
        </p:nvSpPr>
        <p:spPr>
          <a:xfrm>
            <a:off x="876240" y="3733920"/>
            <a:ext cx="25279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Caché L1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9"/>
          <p:cNvSpPr/>
          <p:nvPr/>
        </p:nvSpPr>
        <p:spPr>
          <a:xfrm>
            <a:off x="876240" y="4057560"/>
            <a:ext cx="20214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Metadatos e inodos de uso inmediato.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20"/>
          <p:cNvSpPr/>
          <p:nvPr/>
        </p:nvSpPr>
        <p:spPr>
          <a:xfrm>
            <a:off x="3726720" y="3733920"/>
            <a:ext cx="25279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Caché L2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21"/>
          <p:cNvSpPr/>
          <p:nvPr/>
        </p:nvSpPr>
        <p:spPr>
          <a:xfrm>
            <a:off x="3726720" y="4057560"/>
            <a:ext cx="20214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Bloques de datos y respaldo secundario.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22"/>
          <p:cNvSpPr/>
          <p:nvPr/>
        </p:nvSpPr>
        <p:spPr>
          <a:xfrm>
            <a:off x="6576840" y="3733920"/>
            <a:ext cx="25279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Caché L3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23"/>
          <p:cNvSpPr/>
          <p:nvPr/>
        </p:nvSpPr>
        <p:spPr>
          <a:xfrm>
            <a:off x="6576840" y="4057560"/>
            <a:ext cx="20214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Estructuras de directorio y contexto global.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4"/>
          <p:cNvSpPr/>
          <p:nvPr/>
        </p:nvSpPr>
        <p:spPr>
          <a:xfrm>
            <a:off x="9427320" y="3733920"/>
            <a:ext cx="25279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Space Grotesk"/>
              </a:rPr>
              <a:t>RAM / Disco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5"/>
          <p:cNvSpPr/>
          <p:nvPr/>
        </p:nvSpPr>
        <p:spPr>
          <a:xfrm>
            <a:off x="9427320" y="4057560"/>
            <a:ext cx="20214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Inter"/>
              </a:rPr>
              <a:t>Acceso completo con penalización de latencia.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ounded Rectangle 1"/>
          <p:cNvSpPr/>
          <p:nvPr/>
        </p:nvSpPr>
        <p:spPr>
          <a:xfrm>
            <a:off x="609480" y="2143080"/>
            <a:ext cx="10972440" cy="3543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solidFill>
              <a:srgbClr val="4A7EB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44" name="Table 2"/>
          <p:cNvGraphicFramePr/>
          <p:nvPr/>
        </p:nvGraphicFramePr>
        <p:xfrm>
          <a:off x="609480" y="2143080"/>
          <a:ext cx="10963080" cy="3543120"/>
        </p:xfrm>
        <a:graphic>
          <a:graphicData uri="http://schemas.openxmlformats.org/drawingml/2006/table">
            <a:tbl>
              <a:tblPr/>
              <a:tblGrid>
                <a:gridCol w="3543840"/>
                <a:gridCol w="2961720"/>
                <a:gridCol w="4457520"/>
              </a:tblGrid>
              <a:tr h="50616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8FAFC"/>
                          </a:solidFill>
                          <a:effectLst/>
                          <a:uFillTx/>
                          <a:latin typeface="Space Grotesk"/>
                        </a:rPr>
                        <a:t>Característica</a:t>
                      </a:r>
                      <a:endParaRPr lang="es-V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8FAFC"/>
                          </a:solidFill>
                          <a:effectLst/>
                          <a:uFillTx/>
                          <a:latin typeface="Space Grotesk"/>
                        </a:rPr>
                        <a:t>FAT</a:t>
                      </a:r>
                      <a:endParaRPr lang="es-V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8FAFC"/>
                          </a:solidFill>
                          <a:effectLst/>
                          <a:uFillTx/>
                          <a:latin typeface="Space Grotesk"/>
                        </a:rPr>
                        <a:t>Ext2</a:t>
                      </a:r>
                      <a:endParaRPr lang="es-V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0F172A"/>
                    </a:solidFill>
                  </a:tcPr>
                </a:tc>
              </a:tr>
              <a:tr h="50616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Inter"/>
                        </a:rPr>
                        <a:t>Gestión de Metadatos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</a:rPr>
                        <a:t>Directorio plano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</a:rPr>
                        <a:t>Inodos + directorios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616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Inter"/>
                        </a:rPr>
                        <a:t>Estrategia de Asignación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</a:rPr>
                        <a:t>Tabla enlazada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</a:rPr>
                        <a:t>Punteros directos/indirectos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0616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Inter"/>
                        </a:rPr>
                        <a:t>Tamaño Máx. Archivo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</a:rPr>
                        <a:t>Limitado por FAT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</a:rPr>
                        <a:t>~ 2 GB (indirecto simple)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616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Inter"/>
                        </a:rPr>
                        <a:t>Fragmentación Externa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DC2626"/>
                          </a:solidFill>
                          <a:effectLst/>
                          <a:uFillTx/>
                          <a:latin typeface="Inter"/>
                        </a:rPr>
                        <a:t>Externa alta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16A34A"/>
                          </a:solidFill>
                          <a:effectLst/>
                          <a:uFillTx/>
                          <a:latin typeface="Inter"/>
                        </a:rPr>
                        <a:t>Externa moderada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0616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Inter"/>
                        </a:rPr>
                        <a:t>Liberación de Recursos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</a:rPr>
                        <a:t>Liberar cadena FAT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</a:rPr>
                        <a:t>Liberar bloques + inodo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616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Inter"/>
                        </a:rPr>
                        <a:t>Jerarquía de Caché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</a:rPr>
                        <a:t>L1/L2/L3 por bloque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</a:rPr>
                        <a:t>L1 inodos, L2 datos, L3 directorio</a:t>
                      </a:r>
                      <a:endParaRPr lang="es-V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3"/>
          <p:cNvSpPr/>
          <p:nvPr/>
        </p:nvSpPr>
        <p:spPr>
          <a:xfrm>
            <a:off x="609480" y="533520"/>
            <a:ext cx="11067840" cy="70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Inter"/>
              </a:rPr>
              <a:t> 05. ANÁLISIS COMPARATIVO 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4"/>
          <p:cNvSpPr/>
          <p:nvPr/>
        </p:nvSpPr>
        <p:spPr>
          <a:xfrm>
            <a:off x="609480" y="800280"/>
            <a:ext cx="115819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Matriz Comparativa FAT vs Ext2</a:t>
            </a:r>
            <a:endParaRPr lang="es-VE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ounded Rectangle 1"/>
          <p:cNvSpPr/>
          <p:nvPr/>
        </p:nvSpPr>
        <p:spPr>
          <a:xfrm>
            <a:off x="609480" y="2852640"/>
            <a:ext cx="5205600" cy="2123640"/>
          </a:xfrm>
          <a:prstGeom prst="roundRect">
            <a:avLst>
              <a:gd name="adj" fmla="val 7174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Rounded Rectangle 2"/>
          <p:cNvSpPr/>
          <p:nvPr/>
        </p:nvSpPr>
        <p:spPr>
          <a:xfrm>
            <a:off x="6272640" y="2819520"/>
            <a:ext cx="5309280" cy="999720"/>
          </a:xfrm>
          <a:prstGeom prst="roundRect">
            <a:avLst>
              <a:gd name="adj" fmla="val 11428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ounded Rectangle 3"/>
          <p:cNvSpPr/>
          <p:nvPr/>
        </p:nvSpPr>
        <p:spPr>
          <a:xfrm>
            <a:off x="6272640" y="4010040"/>
            <a:ext cx="5309280" cy="999720"/>
          </a:xfrm>
          <a:prstGeom prst="roundRect">
            <a:avLst>
              <a:gd name="adj" fmla="val 11428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4"/>
          <p:cNvSpPr/>
          <p:nvPr/>
        </p:nvSpPr>
        <p:spPr>
          <a:xfrm>
            <a:off x="609480" y="533520"/>
            <a:ext cx="11067840" cy="70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Inter"/>
              </a:rPr>
              <a:t> 06. RENDIMIENTO EN FAT 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5"/>
          <p:cNvSpPr/>
          <p:nvPr/>
        </p:nvSpPr>
        <p:spPr>
          <a:xfrm>
            <a:off x="609480" y="800280"/>
            <a:ext cx="115819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Alta Efectividad de Caché en Arquitectura FAT</a:t>
            </a:r>
            <a:endParaRPr lang="es-VE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6"/>
          <p:cNvSpPr/>
          <p:nvPr/>
        </p:nvSpPr>
        <p:spPr>
          <a:xfrm>
            <a:off x="1974240" y="3243240"/>
            <a:ext cx="247608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457200">
              <a:lnSpc>
                <a:spcPts val="7801"/>
              </a:lnSpc>
            </a:pPr>
            <a:r>
              <a:rPr lang="en-US" sz="7800" b="1" u="none" strike="noStrike">
                <a:solidFill>
                  <a:srgbClr val="2563EB"/>
                </a:solidFill>
                <a:effectLst/>
                <a:uFillTx/>
                <a:latin typeface="Space Grotesk"/>
              </a:rPr>
              <a:t>80%</a:t>
            </a:r>
            <a:endParaRPr lang="es-VE" sz="7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7"/>
          <p:cNvSpPr/>
          <p:nvPr/>
        </p:nvSpPr>
        <p:spPr>
          <a:xfrm>
            <a:off x="986040" y="4386240"/>
            <a:ext cx="4452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0F172A"/>
                </a:solidFill>
                <a:effectLst/>
                <a:uFillTx/>
                <a:latin typeface="Inter"/>
              </a:rPr>
              <a:t>Aciertos globales absorbidos por Caché L2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8"/>
          <p:cNvSpPr/>
          <p:nvPr/>
        </p:nvSpPr>
        <p:spPr>
          <a:xfrm>
            <a:off x="6510960" y="3057480"/>
            <a:ext cx="568080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Sólida Localidad Temporal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9"/>
          <p:cNvSpPr/>
          <p:nvPr/>
        </p:nvSpPr>
        <p:spPr>
          <a:xfrm>
            <a:off x="6510960" y="3381480"/>
            <a:ext cx="56808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42% de efectividad en L1 consultando sectores clave.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10"/>
          <p:cNvSpPr/>
          <p:nvPr/>
        </p:nvSpPr>
        <p:spPr>
          <a:xfrm>
            <a:off x="6510960" y="4248000"/>
            <a:ext cx="568080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Flujo de Asignación Eficiente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1"/>
          <p:cNvSpPr/>
          <p:nvPr/>
        </p:nvSpPr>
        <p:spPr>
          <a:xfrm>
            <a:off x="6510960" y="4572000"/>
            <a:ext cx="56808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Recorrido secuencial fluido maximizando recursos físicos.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ounded Rectangle 1"/>
          <p:cNvSpPr/>
          <p:nvPr/>
        </p:nvSpPr>
        <p:spPr>
          <a:xfrm>
            <a:off x="609480" y="2809800"/>
            <a:ext cx="5205600" cy="2247480"/>
          </a:xfrm>
          <a:prstGeom prst="roundRect">
            <a:avLst>
              <a:gd name="adj" fmla="val 6779"/>
            </a:avLst>
          </a:prstGeom>
          <a:solidFill>
            <a:srgbClr val="F0FDF4"/>
          </a:solidFill>
          <a:ln>
            <a:solidFill>
              <a:srgbClr val="BBF7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ounded Rectangle 2"/>
          <p:cNvSpPr/>
          <p:nvPr/>
        </p:nvSpPr>
        <p:spPr>
          <a:xfrm>
            <a:off x="6272640" y="2838600"/>
            <a:ext cx="5309280" cy="9997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Rounded Rectangle 3"/>
          <p:cNvSpPr/>
          <p:nvPr/>
        </p:nvSpPr>
        <p:spPr>
          <a:xfrm>
            <a:off x="6272640" y="4029120"/>
            <a:ext cx="5309280" cy="9997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Box 4"/>
          <p:cNvSpPr/>
          <p:nvPr/>
        </p:nvSpPr>
        <p:spPr>
          <a:xfrm>
            <a:off x="609480" y="533520"/>
            <a:ext cx="11067840" cy="70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16A34A"/>
                </a:solidFill>
                <a:effectLst/>
                <a:uFillTx/>
                <a:latin typeface="Inter"/>
              </a:rPr>
              <a:t> 07. RENDIMIENTO EN EXT2 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5"/>
          <p:cNvSpPr/>
          <p:nvPr/>
        </p:nvSpPr>
        <p:spPr>
          <a:xfrm>
            <a:off x="609480" y="800280"/>
            <a:ext cx="115819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Sinergia y Estabilidad Sobresaliente</a:t>
            </a:r>
            <a:endParaRPr lang="es-VE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2319480" y="3200400"/>
            <a:ext cx="17856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66534"/>
                </a:solidFill>
                <a:effectLst/>
                <a:uFillTx/>
                <a:latin typeface="JetBrains Mono"/>
              </a:rPr>
              <a:t>NIVELES L1 Y L2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7"/>
          <p:cNvSpPr/>
          <p:nvPr/>
        </p:nvSpPr>
        <p:spPr>
          <a:xfrm>
            <a:off x="1896840" y="3476520"/>
            <a:ext cx="263088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457200">
              <a:lnSpc>
                <a:spcPts val="6599"/>
              </a:lnSpc>
            </a:pPr>
            <a:r>
              <a:rPr lang="en-US" sz="6600" b="1" u="none" strike="noStrike">
                <a:solidFill>
                  <a:srgbClr val="16A34A"/>
                </a:solidFill>
                <a:effectLst/>
                <a:uFillTx/>
                <a:latin typeface="Space Grotesk"/>
              </a:rPr>
              <a:t>100%</a:t>
            </a:r>
            <a:endParaRPr lang="es-VE" sz="6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8"/>
          <p:cNvSpPr/>
          <p:nvPr/>
        </p:nvSpPr>
        <p:spPr>
          <a:xfrm>
            <a:off x="1051560" y="4467240"/>
            <a:ext cx="43214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4532D"/>
                </a:solidFill>
                <a:effectLst/>
                <a:uFillTx/>
                <a:latin typeface="Inter"/>
              </a:rPr>
              <a:t>Tasa de acierto en Inodos y Datos activos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9"/>
          <p:cNvSpPr/>
          <p:nvPr/>
        </p:nvSpPr>
        <p:spPr>
          <a:xfrm>
            <a:off x="6510960" y="3076560"/>
            <a:ext cx="568080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Estabilidad Estructural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0"/>
          <p:cNvSpPr/>
          <p:nvPr/>
        </p:nvSpPr>
        <p:spPr>
          <a:xfrm>
            <a:off x="6510960" y="3400560"/>
            <a:ext cx="56808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Recuperación inmediata reteniendo mapas de inodos.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11"/>
          <p:cNvSpPr/>
          <p:nvPr/>
        </p:nvSpPr>
        <p:spPr>
          <a:xfrm>
            <a:off x="6510960" y="4267080"/>
            <a:ext cx="568080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Gestión Coordinada L3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12"/>
          <p:cNvSpPr/>
          <p:nvPr/>
        </p:nvSpPr>
        <p:spPr>
          <a:xfrm>
            <a:off x="6510960" y="4591080"/>
            <a:ext cx="56808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Alternancia fluida y ágil entre directorios de trabajo.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ounded Rectangle 1"/>
          <p:cNvSpPr/>
          <p:nvPr/>
        </p:nvSpPr>
        <p:spPr>
          <a:xfrm>
            <a:off x="609480" y="2800440"/>
            <a:ext cx="5371920" cy="1037880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Rounded Rectangle 2"/>
          <p:cNvSpPr/>
          <p:nvPr/>
        </p:nvSpPr>
        <p:spPr>
          <a:xfrm>
            <a:off x="6210360" y="2800440"/>
            <a:ext cx="5371920" cy="1037880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ounded Rectangle 3"/>
          <p:cNvSpPr/>
          <p:nvPr/>
        </p:nvSpPr>
        <p:spPr>
          <a:xfrm>
            <a:off x="609480" y="4067280"/>
            <a:ext cx="5371920" cy="1037880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Rounded Rectangle 4"/>
          <p:cNvSpPr/>
          <p:nvPr/>
        </p:nvSpPr>
        <p:spPr>
          <a:xfrm>
            <a:off x="6210360" y="4067280"/>
            <a:ext cx="5371920" cy="1037880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4" name="Picture 5" descr="image.png"/>
          <p:cNvPicPr/>
          <p:nvPr/>
        </p:nvPicPr>
        <p:blipFill>
          <a:blip r:embed="rId1"/>
          <a:stretch/>
        </p:blipFill>
        <p:spPr>
          <a:xfrm>
            <a:off x="885960" y="3186000"/>
            <a:ext cx="266400" cy="26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5" name="Picture 6" descr="image.png"/>
          <p:cNvPicPr/>
          <p:nvPr/>
        </p:nvPicPr>
        <p:blipFill>
          <a:blip r:embed="rId2"/>
          <a:stretch/>
        </p:blipFill>
        <p:spPr>
          <a:xfrm>
            <a:off x="6486480" y="3186000"/>
            <a:ext cx="304560" cy="26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Picture 7" descr="image.png"/>
          <p:cNvPicPr/>
          <p:nvPr/>
        </p:nvPicPr>
        <p:blipFill>
          <a:blip r:embed="rId3"/>
          <a:stretch/>
        </p:blipFill>
        <p:spPr>
          <a:xfrm>
            <a:off x="885960" y="4452840"/>
            <a:ext cx="304560" cy="26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" name="Picture 8" descr="image.png"/>
          <p:cNvPicPr/>
          <p:nvPr/>
        </p:nvPicPr>
        <p:blipFill>
          <a:blip r:embed="rId4"/>
          <a:stretch/>
        </p:blipFill>
        <p:spPr>
          <a:xfrm>
            <a:off x="6486480" y="4452840"/>
            <a:ext cx="237600" cy="2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TextBox 9"/>
          <p:cNvSpPr/>
          <p:nvPr/>
        </p:nvSpPr>
        <p:spPr>
          <a:xfrm>
            <a:off x="609480" y="533520"/>
            <a:ext cx="11067840" cy="70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Inter"/>
              </a:rPr>
              <a:t> 08. EVALUACIÓN DE LIMITACIONES </a:t>
            </a:r>
            <a:endParaRPr lang="es-V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10"/>
          <p:cNvSpPr/>
          <p:nvPr/>
        </p:nvSpPr>
        <p:spPr>
          <a:xfrm>
            <a:off x="609480" y="800280"/>
            <a:ext cx="115819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Limitaciones Detectadas en el Simulador</a:t>
            </a:r>
            <a:endParaRPr lang="es-VE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11"/>
          <p:cNvSpPr/>
          <p:nvPr/>
        </p:nvSpPr>
        <p:spPr>
          <a:xfrm>
            <a:off x="1343160" y="3076560"/>
            <a:ext cx="452520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Sin Invalidación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2"/>
          <p:cNvSpPr/>
          <p:nvPr/>
        </p:nvSpPr>
        <p:spPr>
          <a:xfrm>
            <a:off x="1343160" y="3362400"/>
            <a:ext cx="4309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Entradas en caché persisten tras borrado.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3"/>
          <p:cNvSpPr/>
          <p:nvPr/>
        </p:nvSpPr>
        <p:spPr>
          <a:xfrm>
            <a:off x="6981840" y="3076560"/>
            <a:ext cx="500040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Indirección Simple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4"/>
          <p:cNvSpPr/>
          <p:nvPr/>
        </p:nvSpPr>
        <p:spPr>
          <a:xfrm>
            <a:off x="6981840" y="3362400"/>
            <a:ext cx="4762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Ausencia de punteros dobles y triples en Ext2.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5"/>
          <p:cNvSpPr/>
          <p:nvPr/>
        </p:nvSpPr>
        <p:spPr>
          <a:xfrm>
            <a:off x="1380960" y="4343400"/>
            <a:ext cx="483768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Memoria Volátil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6"/>
          <p:cNvSpPr/>
          <p:nvPr/>
        </p:nvSpPr>
        <p:spPr>
          <a:xfrm>
            <a:off x="1380960" y="4629240"/>
            <a:ext cx="4607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Almacenamiento exclusivo en RAM simulada.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7"/>
          <p:cNvSpPr/>
          <p:nvPr/>
        </p:nvSpPr>
        <p:spPr>
          <a:xfrm>
            <a:off x="6915240" y="4343400"/>
            <a:ext cx="478764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Space Grotesk"/>
              </a:rPr>
              <a:t>Nombres Restringidos</a:t>
            </a:r>
            <a:endParaRPr lang="es-V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18"/>
          <p:cNvSpPr/>
          <p:nvPr/>
        </p:nvSpPr>
        <p:spPr>
          <a:xfrm>
            <a:off x="6915240" y="4629240"/>
            <a:ext cx="45597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</a:rPr>
              <a:t>Archivos no permiten caracteres especiales.</a:t>
            </a:r>
            <a:endParaRPr lang="es-V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"/>
          <p:cNvSpPr/>
          <p:nvPr/>
        </p:nvSpPr>
        <p:spPr>
          <a:xfrm>
            <a:off x="609480" y="5857920"/>
            <a:ext cx="10972440" cy="390240"/>
          </a:xfrm>
          <a:prstGeom prst="rect">
            <a:avLst/>
          </a:prstGeom>
          <a:noFill/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Rectangle 2"/>
          <p:cNvSpPr/>
          <p:nvPr/>
        </p:nvSpPr>
        <p:spPr>
          <a:xfrm>
            <a:off x="609480" y="2624040"/>
            <a:ext cx="8572320" cy="523440"/>
          </a:xfrm>
          <a:prstGeom prst="rect">
            <a:avLst/>
          </a:prstGeom>
          <a:noFill/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Rectangle 3"/>
          <p:cNvSpPr/>
          <p:nvPr/>
        </p:nvSpPr>
        <p:spPr>
          <a:xfrm>
            <a:off x="609480" y="3376440"/>
            <a:ext cx="8572320" cy="523440"/>
          </a:xfrm>
          <a:prstGeom prst="rect">
            <a:avLst/>
          </a:prstGeom>
          <a:noFill/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Rectangle 4"/>
          <p:cNvSpPr/>
          <p:nvPr/>
        </p:nvSpPr>
        <p:spPr>
          <a:xfrm>
            <a:off x="609480" y="4129200"/>
            <a:ext cx="8572320" cy="523440"/>
          </a:xfrm>
          <a:prstGeom prst="rect">
            <a:avLst/>
          </a:prstGeom>
          <a:noFill/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ectangle 5"/>
          <p:cNvSpPr/>
          <p:nvPr/>
        </p:nvSpPr>
        <p:spPr>
          <a:xfrm>
            <a:off x="609480" y="5857920"/>
            <a:ext cx="10972440" cy="900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ectangle 6"/>
          <p:cNvSpPr/>
          <p:nvPr/>
        </p:nvSpPr>
        <p:spPr>
          <a:xfrm>
            <a:off x="609480" y="2624040"/>
            <a:ext cx="28080" cy="523440"/>
          </a:xfrm>
          <a:prstGeom prst="rect">
            <a:avLst/>
          </a:prstGeom>
          <a:solidFill>
            <a:srgbClr val="38BD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Rectangle 7"/>
          <p:cNvSpPr/>
          <p:nvPr/>
        </p:nvSpPr>
        <p:spPr>
          <a:xfrm>
            <a:off x="609480" y="3376440"/>
            <a:ext cx="28080" cy="523440"/>
          </a:xfrm>
          <a:prstGeom prst="rect">
            <a:avLst/>
          </a:prstGeom>
          <a:solidFill>
            <a:srgbClr val="38BD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Rectangle 8"/>
          <p:cNvSpPr/>
          <p:nvPr/>
        </p:nvSpPr>
        <p:spPr>
          <a:xfrm>
            <a:off x="609480" y="4129200"/>
            <a:ext cx="28080" cy="523440"/>
          </a:xfrm>
          <a:prstGeom prst="rect">
            <a:avLst/>
          </a:prstGeom>
          <a:solidFill>
            <a:srgbClr val="38BD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9"/>
          <p:cNvSpPr/>
          <p:nvPr/>
        </p:nvSpPr>
        <p:spPr>
          <a:xfrm>
            <a:off x="609480" y="609480"/>
            <a:ext cx="110678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38BDF8"/>
                </a:solidFill>
                <a:effectLst/>
                <a:uFillTx/>
                <a:latin typeface="Inter"/>
              </a:rPr>
              <a:t> 09. CONCLUSION </a:t>
            </a:r>
            <a:endParaRPr lang="es-VE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10"/>
          <p:cNvSpPr/>
          <p:nvPr/>
        </p:nvSpPr>
        <p:spPr>
          <a:xfrm>
            <a:off x="609480" y="914400"/>
            <a:ext cx="1158192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150" b="1" u="none" strike="noStrike">
                <a:solidFill>
                  <a:srgbClr val="F8FAFC"/>
                </a:solidFill>
                <a:effectLst/>
                <a:uFillTx/>
                <a:latin typeface="Space Grotesk"/>
              </a:rPr>
              <a:t>Lecciones de Diseño Arquitectónico</a:t>
            </a:r>
            <a:endParaRPr lang="es-VE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1"/>
          <p:cNvSpPr/>
          <p:nvPr/>
        </p:nvSpPr>
        <p:spPr>
          <a:xfrm>
            <a:off x="609480" y="6058080"/>
            <a:ext cx="4345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</a:rPr>
              <a:t>Simulador de Sistemas de Archivos (FAT y Ext2)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2"/>
          <p:cNvSpPr/>
          <p:nvPr/>
        </p:nvSpPr>
        <p:spPr>
          <a:xfrm>
            <a:off x="9982080" y="6058080"/>
            <a:ext cx="1999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38BDF8"/>
                </a:solidFill>
                <a:effectLst/>
                <a:uFillTx/>
                <a:latin typeface="Inter"/>
              </a:rPr>
              <a:t>Fin de la Presentación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866880" y="2624040"/>
            <a:ext cx="109134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F8FAFC"/>
                </a:solidFill>
                <a:effectLst/>
                <a:uFillTx/>
                <a:latin typeface="Space Grotesk"/>
              </a:rPr>
              <a:t>FAT y Localidad Temporal</a:t>
            </a:r>
            <a:endParaRPr lang="es-VE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866880" y="2948040"/>
            <a:ext cx="10393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94A3B8"/>
                </a:solidFill>
                <a:effectLst/>
                <a:uFillTx/>
                <a:latin typeface="Inter"/>
              </a:rPr>
              <a:t>Esquema secuencial logra altas tasas de acierto reteniendo sectores clave.</a:t>
            </a:r>
            <a:endParaRPr lang="es-VE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15"/>
          <p:cNvSpPr/>
          <p:nvPr/>
        </p:nvSpPr>
        <p:spPr>
          <a:xfrm>
            <a:off x="866880" y="3376440"/>
            <a:ext cx="109134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F8FAFC"/>
                </a:solidFill>
                <a:effectLst/>
                <a:uFillTx/>
                <a:latin typeface="Space Grotesk"/>
              </a:rPr>
              <a:t>Robustez en Ext2</a:t>
            </a:r>
            <a:endParaRPr lang="es-VE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16"/>
          <p:cNvSpPr/>
          <p:nvPr/>
        </p:nvSpPr>
        <p:spPr>
          <a:xfrm>
            <a:off x="866880" y="3700440"/>
            <a:ext cx="10393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94A3B8"/>
                </a:solidFill>
                <a:effectLst/>
                <a:uFillTx/>
                <a:latin typeface="Inter"/>
              </a:rPr>
              <a:t>Estabilidad sobresaliente al desacoplar metadatos en estructuras de inodos.</a:t>
            </a:r>
            <a:endParaRPr lang="es-VE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17"/>
          <p:cNvSpPr/>
          <p:nvPr/>
        </p:nvSpPr>
        <p:spPr>
          <a:xfrm>
            <a:off x="866880" y="4129200"/>
            <a:ext cx="109134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F8FAFC"/>
                </a:solidFill>
                <a:effectLst/>
                <a:uFillTx/>
                <a:latin typeface="Space Grotesk"/>
              </a:rPr>
              <a:t>Importancia de la Simulación</a:t>
            </a:r>
            <a:endParaRPr lang="es-VE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18"/>
          <p:cNvSpPr/>
          <p:nvPr/>
        </p:nvSpPr>
        <p:spPr>
          <a:xfrm>
            <a:off x="866880" y="4452840"/>
            <a:ext cx="10393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94A3B8"/>
                </a:solidFill>
                <a:effectLst/>
                <a:uFillTx/>
                <a:latin typeface="Inter"/>
              </a:rPr>
              <a:t>Modelar la jerarquía de memoria revela el impacto real de la latencia operativa.</a:t>
            </a:r>
            <a:endParaRPr lang="es-VE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LibreOffice/26.8.0.3$Linux_X86_64 LibreOffice_project/680$Build-3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es-VE</dc:language>
  <cp:lastModifiedBy/>
  <dcterms:modified xsi:type="dcterms:W3CDTF">2026-10-06T17:58:01Z</dcterms:modified>
  <cp:revision>1</cp:revision>
  <dc:subject/>
  <dc:title/>
</cp:coreProperties>
</file>